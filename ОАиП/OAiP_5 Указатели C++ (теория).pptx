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</p:sldMasterIdLst>
  <p:notesMasterIdLst>
    <p:notesMasterId r:id="rId34"/>
  </p:notesMasterIdLst>
  <p:sldIdLst>
    <p:sldId id="256" r:id="rId2"/>
    <p:sldId id="293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9" r:id="rId28"/>
    <p:sldId id="337" r:id="rId29"/>
    <p:sldId id="338" r:id="rId30"/>
    <p:sldId id="336" r:id="rId31"/>
    <p:sldId id="340" r:id="rId32"/>
    <p:sldId id="292" r:id="rId33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4" autoAdjust="0"/>
    <p:restoredTop sz="93220" autoAdjust="0"/>
  </p:normalViewPr>
  <p:slideViewPr>
    <p:cSldViewPr>
      <p:cViewPr varScale="1">
        <p:scale>
          <a:sx n="102" d="100"/>
          <a:sy n="102" d="100"/>
        </p:scale>
        <p:origin x="184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87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7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F69E92D-38E3-4A1F-8ED2-DA0E82001403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9E92D-38E3-4A1F-8ED2-DA0E82001403}" type="slidenum">
              <a:rPr lang="ru-RU" altLang="ru-RU" smtClean="0"/>
              <a:pPr/>
              <a:t>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39003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kumimoji="1" lang="ru-RU" sz="2400">
                <a:latin typeface="Times New Roman" pitchFamily="18" charset="0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kumimoji="1" lang="ru-RU" sz="2400">
                <a:latin typeface="Times New Roman" pitchFamily="18" charset="0"/>
              </a:endParaRP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Arial" charset="0"/>
              </a:endParaRPr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Arial" charset="0"/>
              </a:endParaRPr>
            </a:p>
          </p:txBody>
        </p:sp>
      </p:grpSp>
      <p:sp>
        <p:nvSpPr>
          <p:cNvPr id="563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56332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" name="Rectangle 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27DBD30-BAC4-419D-97E5-BFA23BD729F7}" type="datetime1">
              <a:rPr lang="ru-RU"/>
              <a:pPr>
                <a:defRPr/>
              </a:pPr>
              <a:t>24.10.2022</a:t>
            </a:fld>
            <a:endParaRPr lang="ru-RU"/>
          </a:p>
        </p:txBody>
      </p:sp>
      <p:sp>
        <p:nvSpPr>
          <p:cNvPr id="11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EF631969-B54A-46DC-AA70-3DA992D3D64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1855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26C7E4-FF5C-434F-ADE8-F1279FCEE5E2}" type="datetime1">
              <a:rPr lang="ru-RU"/>
              <a:pPr>
                <a:defRPr/>
              </a:pPr>
              <a:t>24.10.2022</a:t>
            </a:fld>
            <a:endParaRPr lang="ru-RU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25849C-6520-42CB-9BE4-690C40C6398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18447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47EB6-AB0C-4BA9-A030-37AF95D63A7B}" type="datetime1">
              <a:rPr lang="ru-RU"/>
              <a:pPr>
                <a:defRPr/>
              </a:pPr>
              <a:t>24.10.2022</a:t>
            </a:fld>
            <a:endParaRPr lang="ru-RU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1A3981-CE08-4579-B6E5-B2A42A0DD76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1519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FDC2E3-86A6-4850-AF75-F15E3D659BB1}" type="datetime1">
              <a:rPr lang="ru-RU"/>
              <a:pPr>
                <a:defRPr/>
              </a:pPr>
              <a:t>24.10.2022</a:t>
            </a:fld>
            <a:endParaRPr lang="ru-RU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FB8B09-0C4E-415B-8A61-977B81E609FD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43281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63A7A6-E1D6-4E67-9BD3-DC061DC44008}" type="datetime1">
              <a:rPr lang="ru-RU"/>
              <a:pPr>
                <a:defRPr/>
              </a:pPr>
              <a:t>24.10.2022</a:t>
            </a:fld>
            <a:endParaRPr lang="ru-RU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27B1BF-0276-4896-97E3-D89BB62E2A6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72707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25A0E3-DABD-4EB9-A0CF-D54275658B4A}" type="datetime1">
              <a:rPr lang="ru-RU"/>
              <a:pPr>
                <a:defRPr/>
              </a:pPr>
              <a:t>24.10.2022</a:t>
            </a:fld>
            <a:endParaRPr lang="ru-RU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2A596A-9A0E-43E7-A1A1-04E74E780F5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3254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C87531-0482-4C10-B92D-3381D302901F}" type="datetime1">
              <a:rPr lang="ru-RU"/>
              <a:pPr>
                <a:defRPr/>
              </a:pPr>
              <a:t>24.10.2022</a:t>
            </a:fld>
            <a:endParaRPr lang="ru-RU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F913F8-04FD-4BE8-A8CC-8D0AEFC1403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03503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057D5-CB25-4C14-82A1-34A48A2CBB1B}" type="datetime1">
              <a:rPr lang="ru-RU"/>
              <a:pPr>
                <a:defRPr/>
              </a:pPr>
              <a:t>24.10.2022</a:t>
            </a:fld>
            <a:endParaRPr lang="ru-RU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236B8B-908A-44A7-8C5C-8AB3E6FF21C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13234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41D78-F06B-4038-AA07-DB7FF3E6F616}" type="datetime1">
              <a:rPr lang="ru-RU"/>
              <a:pPr>
                <a:defRPr/>
              </a:pPr>
              <a:t>24.10.2022</a:t>
            </a:fld>
            <a:endParaRPr lang="ru-RU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4D023F-DFA6-4519-94AA-9550592D076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05084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C81F3-7E2B-4CE7-8299-A1C0161D747F}" type="datetime1">
              <a:rPr lang="ru-RU"/>
              <a:pPr>
                <a:defRPr/>
              </a:pPr>
              <a:t>24.10.2022</a:t>
            </a:fld>
            <a:endParaRPr lang="ru-RU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8F6D37-DECC-4E1C-9C85-6C659AC989C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12348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BC2E0C-3F73-4820-B9B2-979DF9A82F3D}" type="datetime1">
              <a:rPr lang="ru-RU"/>
              <a:pPr>
                <a:defRPr/>
              </a:pPr>
              <a:t>24.10.2022</a:t>
            </a:fld>
            <a:endParaRPr lang="ru-RU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720A36-6254-4C6D-ABE1-80722799F0A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79610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1032" name="Group 3"/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55300" name="Rectangle 4"/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latin typeface="Arial" charset="0"/>
                </a:endParaRPr>
              </a:p>
            </p:txBody>
          </p:sp>
          <p:sp>
            <p:nvSpPr>
              <p:cNvPr id="55301" name="Freeform 5"/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/>
                <a:ahLst/>
                <a:cxnLst>
                  <a:cxn ang="0">
                    <a:pos x="1728" y="0"/>
                  </a:cxn>
                  <a:cxn ang="0">
                    <a:pos x="1728" y="480"/>
                  </a:cxn>
                  <a:cxn ang="0">
                    <a:pos x="380" y="482"/>
                  </a:cxn>
                  <a:cxn ang="0">
                    <a:pos x="354" y="480"/>
                  </a:cxn>
                  <a:cxn ang="0">
                    <a:pos x="308" y="489"/>
                  </a:cxn>
                  <a:cxn ang="0">
                    <a:pos x="246" y="531"/>
                  </a:cxn>
                  <a:cxn ang="0">
                    <a:pos x="206" y="597"/>
                  </a:cxn>
                  <a:cxn ang="0">
                    <a:pos x="192" y="666"/>
                  </a:cxn>
                  <a:cxn ang="0">
                    <a:pos x="192" y="735"/>
                  </a:cxn>
                  <a:cxn ang="0">
                    <a:pos x="0" y="735"/>
                  </a:cxn>
                  <a:cxn ang="0">
                    <a:pos x="0" y="480"/>
                  </a:cxn>
                  <a:cxn ang="0">
                    <a:pos x="0" y="0"/>
                  </a:cxn>
                  <a:cxn ang="0">
                    <a:pos x="1728" y="0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ru-RU">
                  <a:latin typeface="Arial" charset="0"/>
                </a:endParaRPr>
              </a:p>
            </p:txBody>
          </p:sp>
        </p:grpSp>
        <p:grpSp>
          <p:nvGrpSpPr>
            <p:cNvPr id="1033" name="Group 6"/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55303" name="AutoShape 7"/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latin typeface="Arial" charset="0"/>
                </a:endParaRPr>
              </a:p>
            </p:txBody>
          </p:sp>
          <p:sp>
            <p:nvSpPr>
              <p:cNvPr id="55304" name="AutoShape 8"/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latin typeface="Arial" charset="0"/>
                </a:endParaRPr>
              </a:p>
            </p:txBody>
          </p:sp>
        </p:grpSp>
      </p:grpSp>
      <p:sp>
        <p:nvSpPr>
          <p:cNvPr id="1027" name="AutoShape 9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553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DC8AD7E0-32E6-4715-9BAC-6467FEC75DC3}" type="datetime1">
              <a:rPr lang="ru-RU"/>
              <a:pPr>
                <a:defRPr/>
              </a:pPr>
              <a:t>24.10.2022</a:t>
            </a:fld>
            <a:endParaRPr lang="ru-RU"/>
          </a:p>
        </p:txBody>
      </p:sp>
      <p:sp>
        <p:nvSpPr>
          <p:cNvPr id="553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0"/>
            <a:ext cx="28971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53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fld id="{4608A8F9-6CAB-4B3E-AAE1-1D48A58110BA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ru-RU" altLang="ru-RU" sz="3200"/>
              <a:t>Лекция 6.</a:t>
            </a:r>
            <a:br>
              <a:rPr lang="ru-RU" altLang="ru-RU" sz="3200"/>
            </a:br>
            <a:r>
              <a:rPr lang="en-US" altLang="ru-RU" sz="3200"/>
              <a:t>C++</a:t>
            </a:r>
            <a:r>
              <a:rPr lang="ru-RU" altLang="ru-RU" sz="3200"/>
              <a:t>. Указатели. Работа с указателями.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16016" y="3284984"/>
            <a:ext cx="4032250" cy="144462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sz="2400" dirty="0"/>
              <a:t>Основы алгоритмизации и программирования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3684FE-1058-48DF-9879-04DA9CF46D44}" type="slidenum">
              <a:rPr lang="ru-RU" altLang="ru-RU">
                <a:solidFill>
                  <a:schemeClr val="bg1"/>
                </a:solidFill>
              </a:rPr>
              <a:pPr eaLnBrk="1" hangingPunct="1"/>
              <a:t>2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4099" name="Номер слайда 5"/>
          <p:cNvSpPr txBox="1">
            <a:spLocks noGrp="1"/>
          </p:cNvSpPr>
          <p:nvPr/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FEAA6CF-60A9-421A-AE6A-65F801E06AFD}" type="slidenum">
              <a:rPr lang="ru-RU" altLang="ru-RU" sz="2600" b="1">
                <a:solidFill>
                  <a:schemeClr val="bg1"/>
                </a:solidFill>
              </a:rPr>
              <a:pPr eaLnBrk="1" hangingPunct="1"/>
              <a:t>2</a:t>
            </a:fld>
            <a:endParaRPr lang="ru-RU" altLang="ru-RU" sz="2600" b="1">
              <a:solidFill>
                <a:schemeClr val="bg1"/>
              </a:solidFill>
            </a:endParaRPr>
          </a:p>
        </p:txBody>
      </p:sp>
      <p:sp>
        <p:nvSpPr>
          <p:cNvPr id="410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План.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054975" cy="4235450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ru-RU" altLang="ru-RU"/>
              <a:t>Динамические переменные. Указатели.</a:t>
            </a: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ru-RU" altLang="ru-RU"/>
              <a:t>Операторы для работы с указателями.</a:t>
            </a: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ru-RU" altLang="ru-RU"/>
              <a:t>Выражения, содержащие указатели.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33B5DC6-22F6-4928-BEA1-E34FEAC24628}" type="slidenum">
              <a:rPr lang="ru-RU" altLang="ru-RU">
                <a:solidFill>
                  <a:schemeClr val="bg1"/>
                </a:solidFill>
              </a:rPr>
              <a:pPr eaLnBrk="1" hangingPunct="1"/>
              <a:t>3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512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Виды переменных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126413" cy="4306888"/>
          </a:xfrm>
        </p:spPr>
        <p:txBody>
          <a:bodyPr/>
          <a:lstStyle/>
          <a:p>
            <a:pPr marL="533400" indent="-5334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b="1" u="sng"/>
              <a:t>Статические</a:t>
            </a:r>
            <a:r>
              <a:rPr lang="ru-RU" altLang="ru-RU"/>
              <a:t> </a:t>
            </a:r>
            <a:r>
              <a:rPr lang="ru-RU" altLang="ru-RU" b="1" u="sng"/>
              <a:t>переменные</a:t>
            </a:r>
            <a:r>
              <a:rPr lang="ru-RU" altLang="ru-RU"/>
              <a:t> – автоматически создаваемые в начале исполнения блока программы и уничтожаемые по окончании работы блока.</a:t>
            </a:r>
          </a:p>
          <a:p>
            <a:pPr marL="533400" indent="-5334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/>
              <a:t>	</a:t>
            </a:r>
            <a:r>
              <a:rPr lang="ru-RU" altLang="ru-RU" u="sng"/>
              <a:t>Размещение в памяти – на этапе трансляции.</a:t>
            </a:r>
          </a:p>
          <a:p>
            <a:pPr marL="533400" indent="-53340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b="1" u="sng"/>
              <a:t>Динамические</a:t>
            </a:r>
            <a:r>
              <a:rPr lang="ru-RU" altLang="ru-RU" b="1"/>
              <a:t> </a:t>
            </a:r>
            <a:r>
              <a:rPr lang="ru-RU" altLang="ru-RU" b="1" u="sng"/>
              <a:t>переменные</a:t>
            </a:r>
            <a:r>
              <a:rPr lang="ru-RU" altLang="ru-RU"/>
              <a:t>. Переменные, выделение и очистка памяти для которых происходит в процессе выполнения программы.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8A9A60E-A40F-4E2C-8C03-231DB8719DD8}" type="slidenum">
              <a:rPr lang="ru-RU" altLang="ru-RU">
                <a:solidFill>
                  <a:schemeClr val="bg1"/>
                </a:solidFill>
              </a:rPr>
              <a:pPr eaLnBrk="1" hangingPunct="1"/>
              <a:t>4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197850" cy="4379913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None/>
            </a:pPr>
            <a:r>
              <a:rPr lang="ru-RU" altLang="ru-RU"/>
              <a:t>Динамические переменные используются, если:</a:t>
            </a:r>
          </a:p>
          <a:p>
            <a:pPr marL="533400" indent="-533400">
              <a:buFontTx/>
              <a:buChar char="-"/>
            </a:pPr>
            <a:r>
              <a:rPr lang="ru-RU" altLang="ru-RU"/>
              <a:t>размер необходимой структуры заранее неизвестен</a:t>
            </a:r>
          </a:p>
          <a:p>
            <a:pPr marL="533400" indent="-533400">
              <a:buFontTx/>
              <a:buChar char="-"/>
            </a:pPr>
            <a:r>
              <a:rPr lang="ru-RU" altLang="ru-RU"/>
              <a:t>структура может видоизменяться в процессе работы программы.</a:t>
            </a:r>
          </a:p>
          <a:p>
            <a:pPr marL="533400" indent="-533400">
              <a:buFontTx/>
              <a:buNone/>
            </a:pPr>
            <a:r>
              <a:rPr lang="ru-RU" altLang="ru-RU"/>
              <a:t>В языке С++ динамические переменные реализованы через </a:t>
            </a:r>
            <a:r>
              <a:rPr lang="ru-RU" altLang="ru-RU" b="1" u="sng"/>
              <a:t>указатели</a:t>
            </a:r>
            <a:r>
              <a:rPr lang="ru-RU" altLang="ru-RU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71BEE63-879F-483D-B608-C61CF43A14E9}" type="slidenum">
              <a:rPr lang="ru-RU" altLang="ru-RU">
                <a:solidFill>
                  <a:schemeClr val="bg1"/>
                </a:solidFill>
              </a:rPr>
              <a:pPr eaLnBrk="1" hangingPunct="1"/>
              <a:t>5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717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Указатели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126413" cy="430688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ru-RU" altLang="ru-RU" u="sng"/>
              <a:t>Определение</a:t>
            </a:r>
            <a:r>
              <a:rPr lang="ru-RU" altLang="ru-RU"/>
              <a:t>: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 b="1" u="sng"/>
              <a:t>Указатель</a:t>
            </a:r>
            <a:r>
              <a:rPr lang="ru-RU" altLang="ru-RU"/>
              <a:t> (</a:t>
            </a:r>
            <a:r>
              <a:rPr lang="en-US" altLang="ru-RU"/>
              <a:t>pointer</a:t>
            </a:r>
            <a:r>
              <a:rPr lang="ru-RU" altLang="ru-RU"/>
              <a:t>)</a:t>
            </a:r>
            <a:r>
              <a:rPr lang="en-US" altLang="ru-RU"/>
              <a:t> – </a:t>
            </a:r>
            <a:r>
              <a:rPr lang="ru-RU" altLang="ru-RU"/>
              <a:t>это </a:t>
            </a:r>
            <a:r>
              <a:rPr lang="ru-RU" altLang="ru-RU" u="sng"/>
              <a:t>переменная</a:t>
            </a:r>
            <a:r>
              <a:rPr lang="ru-RU" altLang="ru-RU"/>
              <a:t>, в которой </a:t>
            </a:r>
            <a:r>
              <a:rPr lang="ru-RU" altLang="ru-RU" u="sng"/>
              <a:t>хранится адрес</a:t>
            </a:r>
            <a:r>
              <a:rPr lang="ru-RU" altLang="ru-RU"/>
              <a:t> другого объекта (как правило другой переменной).</a:t>
            </a:r>
          </a:p>
          <a:p>
            <a:pPr algn="just">
              <a:buFont typeface="Wingdings" panose="05000000000000000000" pitchFamily="2" charset="2"/>
              <a:buNone/>
            </a:pPr>
            <a:endParaRPr lang="ru-RU" altLang="ru-RU"/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/>
              <a:t>Т.е. значением переменной-указателя является </a:t>
            </a:r>
            <a:r>
              <a:rPr lang="ru-RU" altLang="ru-RU" b="1"/>
              <a:t>адрес</a:t>
            </a:r>
            <a:r>
              <a:rPr lang="ru-RU" altLang="ru-RU"/>
              <a:t> ячейки памяти, в которой содержится динамическая величина.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DCE96C4-EB6F-4B0D-9A19-F1546A87A359}" type="slidenum">
              <a:rPr lang="ru-RU" altLang="ru-RU">
                <a:solidFill>
                  <a:schemeClr val="bg1"/>
                </a:solidFill>
              </a:rPr>
              <a:pPr eaLnBrk="1" hangingPunct="1"/>
              <a:t>6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819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Объявление указателей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197850" cy="437991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ru-RU" altLang="ru-RU"/>
              <a:t>Переменная, хранящая адрес ячейки памяти должна быть объявлена как указатель в разделе объявления переменных.</a:t>
            </a:r>
          </a:p>
          <a:p>
            <a:pPr algn="just">
              <a:buFont typeface="Wingdings" panose="05000000000000000000" pitchFamily="2" charset="2"/>
              <a:buNone/>
            </a:pPr>
            <a:endParaRPr lang="ru-RU" altLang="ru-RU"/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 u="sng"/>
              <a:t>Синтаксис</a:t>
            </a:r>
            <a:r>
              <a:rPr lang="ru-RU" altLang="ru-RU"/>
              <a:t>: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 b="1"/>
              <a:t>тип_указателя   *имя_указателя</a:t>
            </a:r>
          </a:p>
          <a:p>
            <a:pPr algn="just">
              <a:buFont typeface="Wingdings" panose="05000000000000000000" pitchFamily="2" charset="2"/>
              <a:buNone/>
            </a:pPr>
            <a:endParaRPr lang="ru-RU" altLang="ru-RU"/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 u="sng"/>
              <a:t>Тип указателя</a:t>
            </a:r>
            <a:r>
              <a:rPr lang="ru-RU" altLang="ru-RU"/>
              <a:t> – это базовый тип указателя (любой допустимый тип).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6342FF2-C440-46F6-A345-9103938C5949}" type="slidenum">
              <a:rPr lang="ru-RU" altLang="ru-RU">
                <a:solidFill>
                  <a:schemeClr val="bg1"/>
                </a:solidFill>
              </a:rPr>
              <a:pPr eaLnBrk="1" hangingPunct="1"/>
              <a:t>7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921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Пример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054975" cy="430688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ru-RU" sz="2400"/>
              <a:t>int main (void)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ru-RU" sz="2400"/>
              <a:t>{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ru-RU" sz="2400"/>
              <a:t>	double x=10.5, y;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ru-RU" sz="2400"/>
              <a:t>	int *p;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ru-RU" sz="2400"/>
              <a:t>	char *p1;</a:t>
            </a:r>
            <a:endParaRPr lang="ru-RU" altLang="ru-RU" sz="2400"/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 sz="2400"/>
              <a:t>	…</a:t>
            </a:r>
            <a:endParaRPr lang="en-US" altLang="ru-RU" sz="2400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ru-RU" sz="2400"/>
              <a:t>}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 sz="2400"/>
              <a:t>Если переменная занимает несколько ячеек памяти, то ее адресом считается адрес первой ячейки.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BB0C223-81F2-413A-87C5-D2DDD12498A7}" type="slidenum">
              <a:rPr lang="ru-RU" altLang="ru-RU">
                <a:solidFill>
                  <a:schemeClr val="bg1"/>
                </a:solidFill>
              </a:rPr>
              <a:pPr eaLnBrk="1" hangingPunct="1"/>
              <a:t>8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1024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200"/>
              <a:t>Операторы для работы с указателями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126413" cy="430688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ru-RU" altLang="ru-RU"/>
              <a:t>Существует два специальных оператора для работы с указателями.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3600" b="1"/>
              <a:t>&amp;</a:t>
            </a:r>
            <a:r>
              <a:rPr lang="en-US" altLang="ru-RU"/>
              <a:t> - </a:t>
            </a:r>
            <a:r>
              <a:rPr lang="ru-RU" altLang="ru-RU"/>
              <a:t>оператор получения адреса.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/>
              <a:t>p = &amp;count; //</a:t>
            </a:r>
            <a:r>
              <a:rPr lang="ru-RU" altLang="ru-RU"/>
              <a:t>присвоить указателю </a:t>
            </a:r>
            <a:r>
              <a:rPr lang="en-US" altLang="ru-RU"/>
              <a:t>p </a:t>
            </a:r>
            <a:r>
              <a:rPr lang="ru-RU" altLang="ru-RU"/>
              <a:t>адрес </a:t>
            </a:r>
            <a:r>
              <a:rPr lang="en-US" altLang="ru-RU"/>
              <a:t>			 //</a:t>
            </a:r>
            <a:r>
              <a:rPr lang="ru-RU" altLang="ru-RU"/>
              <a:t>переменной </a:t>
            </a:r>
            <a:r>
              <a:rPr lang="en-US" altLang="ru-RU"/>
              <a:t>count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3600" b="1"/>
              <a:t>*</a:t>
            </a:r>
            <a:r>
              <a:rPr lang="en-US" altLang="ru-RU"/>
              <a:t> - </a:t>
            </a:r>
            <a:r>
              <a:rPr lang="ru-RU" altLang="ru-RU"/>
              <a:t>оператор разыменования указателя.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/>
              <a:t>q = *p; //</a:t>
            </a:r>
            <a:r>
              <a:rPr lang="ru-RU" altLang="ru-RU"/>
              <a:t>значение, хранящееся по адресу </a:t>
            </a:r>
            <a:r>
              <a:rPr lang="en-US" altLang="ru-RU"/>
              <a:t>p</a:t>
            </a:r>
            <a:r>
              <a:rPr lang="ru-RU" altLang="ru-RU"/>
              <a:t> </a:t>
            </a:r>
            <a:r>
              <a:rPr lang="en-US" altLang="ru-RU"/>
              <a:t>		  //</a:t>
            </a:r>
            <a:r>
              <a:rPr lang="ru-RU" altLang="ru-RU"/>
              <a:t>присвоить </a:t>
            </a:r>
            <a:r>
              <a:rPr lang="en-US" altLang="ru-RU"/>
              <a:t>q</a:t>
            </a:r>
            <a:endParaRPr lang="ru-RU" alt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6CF39EF-189B-405B-BBF8-F0E96A2E56A3}" type="slidenum">
              <a:rPr lang="ru-RU" altLang="ru-RU">
                <a:solidFill>
                  <a:schemeClr val="bg1"/>
                </a:solidFill>
              </a:rPr>
              <a:pPr eaLnBrk="1" hangingPunct="1"/>
              <a:t>9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126413" cy="430688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ru-RU" altLang="ru-RU"/>
              <a:t>Приоритет операторов </a:t>
            </a:r>
            <a:r>
              <a:rPr lang="en-US" altLang="ru-RU" b="1"/>
              <a:t>*</a:t>
            </a:r>
            <a:r>
              <a:rPr lang="en-US" altLang="ru-RU"/>
              <a:t> </a:t>
            </a:r>
            <a:r>
              <a:rPr lang="ru-RU" altLang="ru-RU"/>
              <a:t>и </a:t>
            </a:r>
            <a:r>
              <a:rPr lang="en-US" altLang="ru-RU" b="1"/>
              <a:t>&amp;</a:t>
            </a:r>
            <a:r>
              <a:rPr lang="ru-RU" altLang="ru-RU"/>
              <a:t> выше приоритета всех арифметических операторов.</a:t>
            </a:r>
          </a:p>
          <a:p>
            <a:pPr algn="just">
              <a:buFont typeface="Wingdings" panose="05000000000000000000" pitchFamily="2" charset="2"/>
              <a:buNone/>
            </a:pPr>
            <a:endParaRPr lang="ru-RU" altLang="ru-RU"/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/>
              <a:t>При использовании указателей необходимо следить за тем, чтобы указатель всегда ссылался на переменную правильного типа (не всякий компилятор отслеживает такие ошибки).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F692E2-2AAC-4DCA-A31E-AEF46E8C8A9D}" type="slidenum">
              <a:rPr lang="ru-RU" altLang="ru-RU">
                <a:solidFill>
                  <a:schemeClr val="bg1"/>
                </a:solidFill>
              </a:rPr>
              <a:pPr eaLnBrk="1" hangingPunct="1"/>
              <a:t>10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1229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Пример.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054975" cy="4306888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000"/>
              <a:t>#include &lt;iostream.h&gt;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000"/>
              <a:t>int main (void)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000"/>
              <a:t>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000"/>
              <a:t>	double x=5.6, y;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000"/>
              <a:t>	int n;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000"/>
              <a:t>	int *p, *p1;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000"/>
              <a:t>	p = &amp;n; //</a:t>
            </a:r>
            <a:r>
              <a:rPr lang="ru-RU" altLang="ru-RU" sz="2000"/>
              <a:t>верная запись</a:t>
            </a:r>
            <a:endParaRPr lang="en-US" altLang="ru-RU" sz="20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000"/>
              <a:t>	p1 = &amp;x;</a:t>
            </a:r>
            <a:r>
              <a:rPr lang="ru-RU" altLang="ru-RU" sz="2000"/>
              <a:t> </a:t>
            </a:r>
            <a:r>
              <a:rPr lang="en-US" altLang="ru-RU" sz="2000"/>
              <a:t>//</a:t>
            </a:r>
            <a:r>
              <a:rPr lang="ru-RU" altLang="ru-RU" sz="2000"/>
              <a:t>нежелательная запись</a:t>
            </a:r>
            <a:endParaRPr lang="en-US" altLang="ru-RU" sz="20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000"/>
              <a:t>	y = *p1;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000"/>
              <a:t>	cout&lt;&lt; y; //</a:t>
            </a:r>
            <a:r>
              <a:rPr lang="ru-RU" altLang="ru-RU" sz="2000"/>
              <a:t>не выведет число 5,6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000"/>
              <a:t>	</a:t>
            </a:r>
            <a:r>
              <a:rPr lang="en-US" altLang="ru-RU" sz="2000"/>
              <a:t>return 0;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000"/>
              <a:t>} </a:t>
            </a:r>
            <a:endParaRPr lang="ru-RU" altLang="ru-RU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0661CEA-D8C6-41E9-AC9C-5F54A2BF3DBE}" type="slidenum">
              <a:rPr lang="ru-RU" altLang="ru-RU">
                <a:solidFill>
                  <a:schemeClr val="bg1"/>
                </a:solidFill>
              </a:rPr>
              <a:pPr eaLnBrk="1" hangingPunct="1"/>
              <a:t>11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1331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200"/>
              <a:t>Выражения, содержащие указатели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126413" cy="437991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ru-RU" altLang="ru-RU"/>
              <a:t>Обычно, выражения, содержащие указатели, подчиняются стандарту, но у них есть свои особенности.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/>
              <a:t>Особенности проявляются в случаях: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/>
              <a:t>- присваивания  указателей.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/>
              <a:t>- адресной арифметики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/>
              <a:t>- сравнения указателей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A52586-EFEB-44D4-B03E-D24F576611ED}" type="slidenum">
              <a:rPr lang="ru-RU" altLang="ru-RU">
                <a:solidFill>
                  <a:schemeClr val="bg1"/>
                </a:solidFill>
              </a:rPr>
              <a:pPr eaLnBrk="1" hangingPunct="1"/>
              <a:t>12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1433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Присваивание указателей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054975" cy="4379913"/>
          </a:xfrm>
        </p:spPr>
        <p:txBody>
          <a:bodyPr/>
          <a:lstStyle/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2400"/>
              <a:t>Указатель можно присвоить другому указателю.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2400" u="sng"/>
              <a:t>Пример</a:t>
            </a:r>
            <a:r>
              <a:rPr lang="ru-RU" altLang="ru-RU" sz="2400"/>
              <a:t>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#include &lt;iostream.h&gt;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int main (void)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{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2400"/>
              <a:t>	</a:t>
            </a:r>
            <a:r>
              <a:rPr lang="en-US" altLang="ru-RU" sz="2400"/>
              <a:t>int x;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int *p1, *p2;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p1 = &amp;x; p2 = p1;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cout&lt;&lt;  p2; //</a:t>
            </a:r>
            <a:r>
              <a:rPr lang="ru-RU" altLang="ru-RU" sz="2400"/>
              <a:t>выведет на экран </a:t>
            </a:r>
            <a:r>
              <a:rPr lang="ru-RU" altLang="ru-RU" sz="2400" u="sng"/>
              <a:t>адрес</a:t>
            </a:r>
            <a:r>
              <a:rPr lang="ru-RU" altLang="ru-RU" sz="2400"/>
              <a:t> переменной </a:t>
            </a:r>
            <a:r>
              <a:rPr lang="en-US" altLang="ru-RU" sz="2400"/>
              <a:t>x</a:t>
            </a:r>
            <a:endParaRPr lang="ru-RU" altLang="ru-RU" sz="2400"/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2400"/>
              <a:t>	</a:t>
            </a:r>
            <a:r>
              <a:rPr lang="en-US" altLang="ru-RU" sz="2400"/>
              <a:t>return 0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}</a:t>
            </a:r>
            <a:endParaRPr lang="ru-RU" altLang="ru-RU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43AF8CF-AF19-4BA3-96C7-22EDABE9B37C}" type="slidenum">
              <a:rPr lang="ru-RU" altLang="ru-RU">
                <a:solidFill>
                  <a:schemeClr val="bg1"/>
                </a:solidFill>
              </a:rPr>
              <a:pPr eaLnBrk="1" hangingPunct="1"/>
              <a:t>13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1536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Адресная арифметика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2349500"/>
            <a:ext cx="8064500" cy="437991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ru-RU" altLang="ru-RU" sz="2400"/>
              <a:t>К указателям применимы только две арифметических операции: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 sz="2400"/>
              <a:t>сложение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 sz="2400"/>
              <a:t>вычитание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 sz="2400" u="sng"/>
              <a:t>Пример</a:t>
            </a:r>
            <a:r>
              <a:rPr lang="ru-RU" altLang="ru-RU" sz="2400"/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 sz="2400"/>
              <a:t>Пусть указатель </a:t>
            </a:r>
            <a:r>
              <a:rPr lang="en-US" altLang="ru-RU" sz="2400"/>
              <a:t>p1</a:t>
            </a:r>
            <a:r>
              <a:rPr lang="ru-RU" altLang="ru-RU" sz="2400"/>
              <a:t> ссылается на целочисленную переменную, размещенную по адресу 2000.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 sz="2400"/>
              <a:t>Пусть целые числа занимают 2 байта в памяти.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 b="1"/>
              <a:t>p1++;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 sz="2400"/>
              <a:t>Чему будет равно значение </a:t>
            </a:r>
            <a:r>
              <a:rPr lang="en-US" altLang="ru-RU" sz="2400"/>
              <a:t>p1?</a:t>
            </a:r>
            <a:endParaRPr lang="ru-RU" altLang="ru-RU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400DBC2-00DA-4344-99EC-1364F579B2B6}" type="slidenum">
              <a:rPr lang="ru-RU" altLang="ru-RU">
                <a:solidFill>
                  <a:schemeClr val="bg1"/>
                </a:solidFill>
              </a:rPr>
              <a:pPr eaLnBrk="1" hangingPunct="1"/>
              <a:t>14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126413" cy="437991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ru-RU"/>
              <a:t>p1 </a:t>
            </a:r>
            <a:r>
              <a:rPr lang="ru-RU" altLang="ru-RU"/>
              <a:t>будет равно 2002, т.к. указатель будет ссылаться на </a:t>
            </a:r>
            <a:r>
              <a:rPr lang="ru-RU" altLang="ru-RU" u="sng"/>
              <a:t>следующее целое число</a:t>
            </a:r>
            <a:r>
              <a:rPr lang="ru-RU" altLang="ru-RU"/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ru-RU" altLang="ru-RU"/>
          </a:p>
          <a:p>
            <a:pPr>
              <a:buFont typeface="Wingdings" panose="05000000000000000000" pitchFamily="2" charset="2"/>
              <a:buNone/>
            </a:pPr>
            <a:r>
              <a:rPr lang="ru-RU" altLang="ru-RU"/>
              <a:t>Выражение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b="1"/>
              <a:t>p1--;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/>
              <a:t>присвоит указателю </a:t>
            </a:r>
            <a:r>
              <a:rPr lang="en-US" altLang="ru-RU"/>
              <a:t>p1 </a:t>
            </a:r>
            <a:r>
              <a:rPr lang="ru-RU" altLang="ru-RU"/>
              <a:t>снова значение 2000.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B490518-30AF-4183-AD55-1BA22AA565E0}" type="slidenum">
              <a:rPr lang="ru-RU" altLang="ru-RU">
                <a:solidFill>
                  <a:schemeClr val="bg1"/>
                </a:solidFill>
              </a:rPr>
              <a:pPr eaLnBrk="1" hangingPunct="1"/>
              <a:t>15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1741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Правила адресной арифметики.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126413" cy="4306888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/>
              <a:t>1. При увеличении на 1 указатель ссылается на ячейку, в которой хранится следующий элемент </a:t>
            </a:r>
            <a:r>
              <a:rPr lang="ru-RU" altLang="ru-RU" u="sng"/>
              <a:t>базового</a:t>
            </a:r>
            <a:r>
              <a:rPr lang="ru-RU" altLang="ru-RU"/>
              <a:t> типа.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/>
              <a:t>2. При уменьшении на 1 указатель ссылается на ячейку, в которой хранится предыдущий элемент </a:t>
            </a:r>
            <a:r>
              <a:rPr lang="ru-RU" altLang="ru-RU" u="sng"/>
              <a:t>базового</a:t>
            </a:r>
            <a:r>
              <a:rPr lang="ru-RU" altLang="ru-RU"/>
              <a:t> типа.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/>
              <a:t>3. В целом указатели увеличиваются или уменьшаются на длину соответствующих переменных, на которые они ссылаются.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/>
              <a:t>4. Указатели можно вычитать.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DB92C2-173F-42BA-B3A6-4B39D4792A21}" type="slidenum">
              <a:rPr lang="ru-RU" altLang="ru-RU">
                <a:solidFill>
                  <a:schemeClr val="bg1"/>
                </a:solidFill>
              </a:rPr>
              <a:pPr eaLnBrk="1" hangingPunct="1"/>
              <a:t>16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1843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Сравнение указателей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197850" cy="430688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ru-RU" altLang="ru-RU"/>
              <a:t>Указатели можно сравнивать между собой.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 u="sng"/>
              <a:t>Пример</a:t>
            </a:r>
            <a:r>
              <a:rPr lang="ru-RU" altLang="ru-RU"/>
              <a:t>.</a:t>
            </a:r>
            <a:endParaRPr lang="en-US" altLang="ru-RU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ru-RU"/>
              <a:t>if (p&lt;q) cout &lt;&lt;“</a:t>
            </a:r>
            <a:r>
              <a:rPr lang="ru-RU" altLang="ru-RU"/>
              <a:t>Указатель </a:t>
            </a:r>
            <a:r>
              <a:rPr lang="en-US" altLang="ru-RU"/>
              <a:t>p </a:t>
            </a:r>
            <a:r>
              <a:rPr lang="ru-RU" altLang="ru-RU"/>
              <a:t>содержит меньший адрес, чем указатель </a:t>
            </a:r>
            <a:r>
              <a:rPr lang="en-US" altLang="ru-RU"/>
              <a:t>q”;</a:t>
            </a:r>
            <a:endParaRPr lang="ru-RU" altLang="ru-RU"/>
          </a:p>
          <a:p>
            <a:pPr algn="just">
              <a:buFont typeface="Wingdings" panose="05000000000000000000" pitchFamily="2" charset="2"/>
              <a:buNone/>
            </a:pPr>
            <a:endParaRPr lang="en-US" altLang="ru-RU"/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/>
              <a:t>Указатели сравниваются, если они ссылаются на один и тот же объект (например массив) для контроля размерности или переполнения конструкции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AA90D81-24A6-471B-8B70-2C15BF825BC7}" type="slidenum">
              <a:rPr lang="ru-RU" altLang="ru-RU">
                <a:solidFill>
                  <a:schemeClr val="bg1"/>
                </a:solidFill>
              </a:rPr>
              <a:pPr eaLnBrk="1" hangingPunct="1"/>
              <a:t>17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1945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200"/>
              <a:t>Пример. Функции для работы со структурой типа стек.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126413" cy="4306888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#include &lt;iostream.h&gt;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#include &lt;stdlib.h&gt;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int *top, *p1, stack [50];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int main (void)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int value;</a:t>
            </a:r>
            <a:r>
              <a:rPr lang="ru-RU" altLang="ru-RU" sz="2400"/>
              <a:t> </a:t>
            </a:r>
            <a:r>
              <a:rPr lang="en-US" altLang="ru-RU" sz="2400"/>
              <a:t>     //</a:t>
            </a:r>
            <a:r>
              <a:rPr lang="ru-RU" altLang="ru-RU" sz="2400"/>
              <a:t>значение для размещения в стеке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/>
              <a:t>	</a:t>
            </a:r>
            <a:r>
              <a:rPr lang="en-US" altLang="ru-RU" sz="2400"/>
              <a:t>top = stack; //</a:t>
            </a:r>
            <a:r>
              <a:rPr lang="ru-RU" altLang="ru-RU" sz="2400"/>
              <a:t>указатель ссылается на вершину стека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/>
              <a:t>	</a:t>
            </a:r>
            <a:r>
              <a:rPr lang="en-US" altLang="ru-RU" sz="2400"/>
              <a:t>p</a:t>
            </a:r>
            <a:r>
              <a:rPr lang="ru-RU" altLang="ru-RU" sz="2400"/>
              <a:t>1 = </a:t>
            </a:r>
            <a:r>
              <a:rPr lang="en-US" altLang="ru-RU" sz="2400"/>
              <a:t>stack; //</a:t>
            </a:r>
            <a:r>
              <a:rPr lang="ru-RU" altLang="ru-RU" sz="2400"/>
              <a:t>инициализация указателя </a:t>
            </a:r>
            <a:r>
              <a:rPr lang="en-US" altLang="ru-RU" sz="2400"/>
              <a:t>p1</a:t>
            </a:r>
            <a:endParaRPr lang="ru-RU" altLang="ru-RU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AEE8D9D-E245-48F8-9032-88ED72A1C08A}" type="slidenum">
              <a:rPr lang="ru-RU" altLang="ru-RU">
                <a:solidFill>
                  <a:schemeClr val="bg1"/>
                </a:solidFill>
              </a:rPr>
              <a:pPr eaLnBrk="1" hangingPunct="1"/>
              <a:t>18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126413" cy="4379913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000"/>
              <a:t>	do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000"/>
              <a:t>		cout&lt;&lt;“</a:t>
            </a:r>
            <a:r>
              <a:rPr lang="ru-RU" altLang="ru-RU" sz="2000"/>
              <a:t>Введите число: </a:t>
            </a:r>
            <a:r>
              <a:rPr lang="en-US" altLang="ru-RU" sz="2000"/>
              <a:t>“;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000"/>
              <a:t>		cin&gt;&gt;value;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000"/>
              <a:t>		if (value!=0) </a:t>
            </a:r>
            <a:endParaRPr lang="ru-RU" altLang="ru-RU" sz="20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000"/>
              <a:t>		</a:t>
            </a:r>
            <a:r>
              <a:rPr lang="en-US" altLang="ru-RU" sz="2000"/>
              <a:t>{</a:t>
            </a:r>
            <a:endParaRPr lang="ru-RU" altLang="ru-RU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000"/>
              <a:t>			p1++;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000"/>
              <a:t>			if (p1 == (top + SIZE))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000"/>
              <a:t>			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000"/>
              <a:t>				cout&lt;&lt; “</a:t>
            </a:r>
            <a:r>
              <a:rPr lang="ru-RU" altLang="ru-RU" sz="2000"/>
              <a:t>Стек переполнен. </a:t>
            </a:r>
            <a:r>
              <a:rPr lang="en-US" altLang="ru-RU" sz="2000"/>
              <a:t>“;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000"/>
              <a:t>				exit (1);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000"/>
              <a:t>			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BBBF700-BDC2-4576-898C-7D204C0D73B8}" type="slidenum">
              <a:rPr lang="ru-RU" altLang="ru-RU">
                <a:solidFill>
                  <a:schemeClr val="bg1"/>
                </a:solidFill>
              </a:rPr>
              <a:pPr eaLnBrk="1" hangingPunct="1"/>
              <a:t>19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126413" cy="437991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ru-RU" sz="2400"/>
              <a:t>			*p1 = value; //</a:t>
            </a:r>
            <a:r>
              <a:rPr lang="ru-RU" altLang="ru-RU" sz="2400"/>
              <a:t>записать значение </a:t>
            </a:r>
            <a:r>
              <a:rPr lang="en-US" altLang="ru-RU" sz="2400"/>
              <a:t>value</a:t>
            </a:r>
            <a:r>
              <a:rPr lang="ru-RU" altLang="ru-RU" sz="2400"/>
              <a:t> в </a:t>
            </a:r>
            <a:r>
              <a:rPr lang="en-US" altLang="ru-RU" sz="2400"/>
              <a:t>				//</a:t>
            </a:r>
            <a:r>
              <a:rPr lang="ru-RU" altLang="ru-RU" sz="2400"/>
              <a:t>адрес, хранимый в </a:t>
            </a:r>
            <a:r>
              <a:rPr lang="en-US" altLang="ru-RU" sz="2400"/>
              <a:t>p1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/>
              <a:t>		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	else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	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		if (p1 == top)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		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			cout&lt;&lt;</a:t>
            </a:r>
            <a:r>
              <a:rPr lang="ru-RU" altLang="ru-RU" sz="2400"/>
              <a:t>Стек исчерпан.</a:t>
            </a:r>
            <a:r>
              <a:rPr lang="en-US" altLang="ru-RU" sz="2400"/>
              <a:t>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			exit (1);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		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</a:t>
            </a:r>
            <a:endParaRPr lang="ru-RU" altLang="ru-RU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6D37F51-2192-4992-B694-3F98EBDB1F00}" type="slidenum">
              <a:rPr lang="ru-RU" altLang="ru-RU">
                <a:solidFill>
                  <a:schemeClr val="bg1"/>
                </a:solidFill>
              </a:rPr>
              <a:pPr eaLnBrk="1" hangingPunct="1"/>
              <a:t>20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126413" cy="4306888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		p1--; //</a:t>
            </a:r>
            <a:r>
              <a:rPr lang="ru-RU" altLang="ru-RU" sz="2400"/>
              <a:t>уменьшаем указатель на 1 </a:t>
            </a:r>
            <a:r>
              <a:rPr lang="en-US" altLang="ru-RU" sz="2400"/>
              <a:t>			//</a:t>
            </a:r>
            <a:r>
              <a:rPr lang="ru-RU" altLang="ru-RU" sz="2400"/>
              <a:t>(переводим к предыдущему элементу)</a:t>
            </a:r>
            <a:endParaRPr lang="en-US" altLang="ru-RU" sz="24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		cout&lt;&lt;“</a:t>
            </a:r>
            <a:r>
              <a:rPr lang="ru-RU" altLang="ru-RU" sz="2400"/>
              <a:t>Число на вершине стека </a:t>
            </a:r>
            <a:r>
              <a:rPr lang="en-US" altLang="ru-RU" sz="2400"/>
              <a:t>				</a:t>
            </a:r>
            <a:r>
              <a:rPr lang="ru-RU" altLang="ru-RU" sz="2400"/>
              <a:t>равно</a:t>
            </a:r>
            <a:r>
              <a:rPr lang="en-US" altLang="ru-RU" sz="2400"/>
              <a:t>”&lt;&lt;</a:t>
            </a:r>
            <a:r>
              <a:rPr lang="ru-RU" altLang="ru-RU" sz="2400"/>
              <a:t> </a:t>
            </a:r>
            <a:r>
              <a:rPr lang="en-US" altLang="ru-RU" sz="2400"/>
              <a:t>*(p1+1)&lt;&lt;endl;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	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} while (value!=-1);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	return 0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ru-RU" sz="2400"/>
              <a:t>}</a:t>
            </a:r>
            <a:endParaRPr lang="ru-RU" altLang="ru-RU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Косвенная адресация</a:t>
            </a:r>
          </a:p>
        </p:txBody>
      </p:sp>
      <p:sp>
        <p:nvSpPr>
          <p:cNvPr id="23555" name="Содержимое 2"/>
          <p:cNvSpPr>
            <a:spLocks noGrp="1"/>
          </p:cNvSpPr>
          <p:nvPr>
            <p:ph idx="1"/>
          </p:nvPr>
        </p:nvSpPr>
        <p:spPr>
          <a:xfrm>
            <a:off x="838200" y="2362200"/>
            <a:ext cx="8054975" cy="430688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ru-RU" altLang="ru-RU"/>
              <a:t>Указатель ссылается на другой указатель, который содержит адрес обычной переменной.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/>
              <a:t>Такая схема называется </a:t>
            </a:r>
            <a:r>
              <a:rPr lang="ru-RU" altLang="ru-RU" i="1" u="sng"/>
              <a:t>косвенной адресацией</a:t>
            </a:r>
            <a:r>
              <a:rPr lang="ru-RU" altLang="ru-RU" i="1"/>
              <a:t> </a:t>
            </a:r>
            <a:r>
              <a:rPr lang="ru-RU" altLang="ru-RU"/>
              <a:t>или </a:t>
            </a:r>
            <a:r>
              <a:rPr lang="ru-RU" altLang="ru-RU" i="1" u="sng"/>
              <a:t>указателем на указатель</a:t>
            </a:r>
            <a:r>
              <a:rPr lang="ru-RU" altLang="ru-RU"/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ru-RU" altLang="ru-RU"/>
          </a:p>
          <a:p>
            <a:pPr>
              <a:buFont typeface="Wingdings" panose="05000000000000000000" pitchFamily="2" charset="2"/>
              <a:buNone/>
            </a:pPr>
            <a:r>
              <a:rPr lang="ru-RU" altLang="ru-RU" u="sng"/>
              <a:t>Минус</a:t>
            </a:r>
            <a:r>
              <a:rPr lang="ru-RU" altLang="ru-RU"/>
              <a:t>: снижение наглядности программы.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/>
              <a:t>Глубина косвенной адресации не ограничена.</a:t>
            </a:r>
          </a:p>
        </p:txBody>
      </p:sp>
      <p:sp>
        <p:nvSpPr>
          <p:cNvPr id="23556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4DD5CD5-FABC-4742-9AE7-2B2195108A43}" type="slidenum">
              <a:rPr lang="ru-RU" altLang="ru-RU">
                <a:solidFill>
                  <a:schemeClr val="bg1"/>
                </a:solidFill>
              </a:rPr>
              <a:pPr eaLnBrk="1" hangingPunct="1"/>
              <a:t>21</a:t>
            </a:fld>
            <a:endParaRPr lang="ru-RU" altLang="ru-RU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altLang="ru-RU"/>
          </a:p>
        </p:txBody>
      </p:sp>
      <p:pic>
        <p:nvPicPr>
          <p:cNvPr id="24579" name="Содержимое 4" descr="Обычная и косвенная адресация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9000" y="2636838"/>
            <a:ext cx="8075613" cy="3384550"/>
          </a:xfrm>
        </p:spPr>
      </p:pic>
      <p:sp>
        <p:nvSpPr>
          <p:cNvPr id="24580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A8386BA-AA85-41BA-BFB5-81E53C553038}" type="slidenum">
              <a:rPr lang="ru-RU" altLang="ru-RU">
                <a:solidFill>
                  <a:schemeClr val="bg1"/>
                </a:solidFill>
              </a:rPr>
              <a:pPr eaLnBrk="1" hangingPunct="1"/>
              <a:t>22</a:t>
            </a:fld>
            <a:endParaRPr lang="ru-RU" altLang="ru-RU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Объявление переменной</a:t>
            </a:r>
          </a:p>
        </p:txBody>
      </p:sp>
      <p:sp>
        <p:nvSpPr>
          <p:cNvPr id="2560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ru-RU" altLang="ru-RU"/>
              <a:t>Переменная, представляющая собой указатель на указатель объявляется следующим образом:</a:t>
            </a:r>
          </a:p>
          <a:p>
            <a:pPr>
              <a:buFont typeface="Wingdings" panose="05000000000000000000" pitchFamily="2" charset="2"/>
              <a:buNone/>
            </a:pPr>
            <a:endParaRPr lang="ru-RU" altLang="ru-RU"/>
          </a:p>
          <a:p>
            <a:pPr>
              <a:buFont typeface="Wingdings" panose="05000000000000000000" pitchFamily="2" charset="2"/>
              <a:buNone/>
            </a:pPr>
            <a:r>
              <a:rPr lang="ru-RU" altLang="ru-RU" b="1"/>
              <a:t>базовый_тип **имя_указателя</a:t>
            </a:r>
            <a:r>
              <a:rPr lang="en-US" altLang="ru-RU"/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/>
              <a:t>Например: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/>
              <a:t>double **point;</a:t>
            </a:r>
            <a:endParaRPr lang="ru-RU" altLang="ru-RU"/>
          </a:p>
        </p:txBody>
      </p:sp>
      <p:sp>
        <p:nvSpPr>
          <p:cNvPr id="25604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1015114-59BF-456A-96D6-DC6AFC3DEB98}" type="slidenum">
              <a:rPr lang="ru-RU" altLang="ru-RU">
                <a:solidFill>
                  <a:schemeClr val="bg1"/>
                </a:solidFill>
              </a:rPr>
              <a:pPr eaLnBrk="1" hangingPunct="1"/>
              <a:t>23</a:t>
            </a:fld>
            <a:endParaRPr lang="ru-RU" altLang="ru-RU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Извлечение значения в косвенной адресации</a:t>
            </a:r>
          </a:p>
        </p:txBody>
      </p:sp>
      <p:sp>
        <p:nvSpPr>
          <p:cNvPr id="26627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ru-RU" altLang="ru-RU"/>
              <a:t>Если переменная объявлена как указатель на указатель, то для извлечения значения дважды применяется оператор разыменования.</a:t>
            </a:r>
          </a:p>
        </p:txBody>
      </p:sp>
      <p:sp>
        <p:nvSpPr>
          <p:cNvPr id="2662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360B34E-88A6-4C8E-9636-FA6F29404597}" type="slidenum">
              <a:rPr lang="ru-RU" altLang="ru-RU">
                <a:solidFill>
                  <a:schemeClr val="bg1"/>
                </a:solidFill>
              </a:rPr>
              <a:pPr eaLnBrk="1" hangingPunct="1"/>
              <a:t>24</a:t>
            </a:fld>
            <a:endParaRPr lang="ru-RU" altLang="ru-RU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Пример</a:t>
            </a:r>
          </a:p>
        </p:txBody>
      </p:sp>
      <p:sp>
        <p:nvSpPr>
          <p:cNvPr id="27651" name="Содержимое 2"/>
          <p:cNvSpPr>
            <a:spLocks noGrp="1"/>
          </p:cNvSpPr>
          <p:nvPr>
            <p:ph idx="1"/>
          </p:nvPr>
        </p:nvSpPr>
        <p:spPr>
          <a:xfrm>
            <a:off x="838200" y="2362200"/>
            <a:ext cx="8054975" cy="42354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ru-RU" sz="2400"/>
              <a:t>#include &lt;stdio.h&gt;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/>
              <a:t>int main()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/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/>
              <a:t>	int x, *p, **q;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/>
              <a:t>	x=10;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/>
              <a:t>	p=&amp;x;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/>
              <a:t>	q=&amp;p;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/>
              <a:t>	printf (“%d”, **q);//</a:t>
            </a:r>
            <a:r>
              <a:rPr lang="ru-RU" altLang="ru-RU" sz="2400"/>
              <a:t>вывод числа </a:t>
            </a:r>
            <a:r>
              <a:rPr lang="en-US" altLang="ru-RU" sz="2400"/>
              <a:t>x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/>
              <a:t>	return 0;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/>
              <a:t>}</a:t>
            </a:r>
          </a:p>
        </p:txBody>
      </p:sp>
      <p:sp>
        <p:nvSpPr>
          <p:cNvPr id="27652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E38274A-D3A0-49D4-A3FB-7D4F9A2A8344}" type="slidenum">
              <a:rPr lang="ru-RU" altLang="ru-RU">
                <a:solidFill>
                  <a:schemeClr val="bg1"/>
                </a:solidFill>
              </a:rPr>
              <a:pPr eaLnBrk="1" hangingPunct="1"/>
              <a:t>25</a:t>
            </a:fld>
            <a:endParaRPr lang="ru-RU" altLang="ru-RU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Инициализация указателей</a:t>
            </a:r>
          </a:p>
        </p:txBody>
      </p:sp>
      <p:sp>
        <p:nvSpPr>
          <p:cNvPr id="28675" name="Содержимое 2"/>
          <p:cNvSpPr>
            <a:spLocks noGrp="1"/>
          </p:cNvSpPr>
          <p:nvPr>
            <p:ph idx="1"/>
          </p:nvPr>
        </p:nvSpPr>
        <p:spPr>
          <a:xfrm>
            <a:off x="838200" y="2362200"/>
            <a:ext cx="8054975" cy="430688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ru-RU" altLang="ru-RU" sz="2400"/>
              <a:t>Если указатель объявлен, но не инициализирован, то его значение остаётся неопределённым.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 sz="2400"/>
              <a:t>Эта ситуация может приводит к непредсказуемым последствиям.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 sz="2400" u="sng"/>
              <a:t>Указатель, не ссылающийся на конкретную ячейку памяти должен быть равен нулю</a:t>
            </a:r>
            <a:r>
              <a:rPr lang="ru-RU" altLang="ru-RU" sz="2400"/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 b="1"/>
              <a:t>int *s;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 b="1"/>
              <a:t>s=0; </a:t>
            </a:r>
            <a:r>
              <a:rPr lang="ru-RU" altLang="ru-RU" sz="2400" b="1"/>
              <a:t>или </a:t>
            </a:r>
            <a:r>
              <a:rPr lang="en-US" altLang="ru-RU" sz="2400" b="1"/>
              <a:t>s=NULL;</a:t>
            </a:r>
            <a:endParaRPr lang="ru-RU" altLang="ru-RU" sz="2400" b="1"/>
          </a:p>
          <a:p>
            <a:pPr>
              <a:buFont typeface="Wingdings" panose="05000000000000000000" pitchFamily="2" charset="2"/>
              <a:buNone/>
            </a:pPr>
            <a:r>
              <a:rPr lang="ru-RU" altLang="ru-RU" sz="2400"/>
              <a:t>Часто инициализируются строки.</a:t>
            </a:r>
          </a:p>
        </p:txBody>
      </p:sp>
      <p:sp>
        <p:nvSpPr>
          <p:cNvPr id="28676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B30E96B-2157-43F4-B546-A8FEDE1F83E2}" type="slidenum">
              <a:rPr lang="ru-RU" altLang="ru-RU">
                <a:solidFill>
                  <a:schemeClr val="bg1"/>
                </a:solidFill>
              </a:rPr>
              <a:pPr eaLnBrk="1" hangingPunct="1"/>
              <a:t>26</a:t>
            </a:fld>
            <a:endParaRPr lang="ru-RU" altLang="ru-RU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Динамическое распределение памяти</a:t>
            </a:r>
            <a:endParaRPr lang="ru-RU" altLang="ru-RU" b="0"/>
          </a:p>
        </p:txBody>
      </p:sp>
      <p:sp>
        <p:nvSpPr>
          <p:cNvPr id="29699" name="Содержимое 2"/>
          <p:cNvSpPr>
            <a:spLocks noGrp="1"/>
          </p:cNvSpPr>
          <p:nvPr>
            <p:ph idx="1"/>
          </p:nvPr>
        </p:nvSpPr>
        <p:spPr>
          <a:xfrm>
            <a:off x="838200" y="2362200"/>
            <a:ext cx="7981950" cy="416242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ru-RU" altLang="ru-RU"/>
              <a:t>Получение программой необходимой памяти в процессе её выполнения.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/>
              <a:t>Память, выделяемая при распределении находится в </a:t>
            </a:r>
            <a:r>
              <a:rPr lang="ru-RU" altLang="ru-RU" b="1" i="1"/>
              <a:t>куче</a:t>
            </a:r>
            <a:r>
              <a:rPr lang="ru-RU" altLang="ru-RU"/>
              <a:t> </a:t>
            </a:r>
            <a:r>
              <a:rPr lang="en-US" altLang="ru-RU"/>
              <a:t>(heap)</a:t>
            </a:r>
            <a:r>
              <a:rPr lang="ru-RU" altLang="ru-RU"/>
              <a:t>, которая представляет собой область свободной памяти между кодом программы, сегментом данных и стеком. Размер кучи заранее неизвестен.</a:t>
            </a:r>
          </a:p>
        </p:txBody>
      </p:sp>
      <p:sp>
        <p:nvSpPr>
          <p:cNvPr id="29700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F1DC22B-BA82-470A-BC15-6BF8AC3D7100}" type="slidenum">
              <a:rPr lang="ru-RU" altLang="ru-RU">
                <a:solidFill>
                  <a:schemeClr val="bg1"/>
                </a:solidFill>
              </a:rPr>
              <a:pPr eaLnBrk="1" hangingPunct="1"/>
              <a:t>27</a:t>
            </a:fld>
            <a:endParaRPr lang="ru-RU" altLang="ru-RU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Динамическое распределение памяти</a:t>
            </a:r>
          </a:p>
        </p:txBody>
      </p:sp>
      <p:sp>
        <p:nvSpPr>
          <p:cNvPr id="30723" name="Содержимое 2"/>
          <p:cNvSpPr>
            <a:spLocks noGrp="1"/>
          </p:cNvSpPr>
          <p:nvPr>
            <p:ph idx="1"/>
          </p:nvPr>
        </p:nvSpPr>
        <p:spPr>
          <a:xfrm>
            <a:off x="827088" y="2276475"/>
            <a:ext cx="8054975" cy="437991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ru-RU" altLang="ru-RU" u="sng"/>
              <a:t>Выделение памяти</a:t>
            </a:r>
            <a:r>
              <a:rPr lang="ru-RU" altLang="ru-RU"/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/>
              <a:t>Оператор </a:t>
            </a:r>
            <a:r>
              <a:rPr lang="en-US" altLang="ru-RU" b="1"/>
              <a:t>new</a:t>
            </a:r>
            <a:r>
              <a:rPr lang="ru-RU" altLang="ru-RU" b="1"/>
              <a:t> </a:t>
            </a:r>
            <a:r>
              <a:rPr lang="ru-RU" altLang="ru-RU"/>
              <a:t>выделяет область памяти и возвращает указатель на ее первую ячейку.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 b="1"/>
              <a:t>указатель = </a:t>
            </a:r>
            <a:r>
              <a:rPr lang="en-US" altLang="ru-RU" b="1"/>
              <a:t>new </a:t>
            </a:r>
            <a:r>
              <a:rPr lang="ru-RU" altLang="ru-RU" b="1"/>
              <a:t>тип</a:t>
            </a:r>
            <a:r>
              <a:rPr lang="en-US" altLang="ru-RU"/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/>
              <a:t>Например:</a:t>
            </a:r>
            <a:endParaRPr lang="en-US" altLang="ru-RU"/>
          </a:p>
          <a:p>
            <a:pPr>
              <a:buFont typeface="Wingdings" panose="05000000000000000000" pitchFamily="2" charset="2"/>
              <a:buNone/>
            </a:pPr>
            <a:r>
              <a:rPr lang="en-US" altLang="ru-RU" b="1"/>
              <a:t>int *s;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b="1"/>
              <a:t>s = new int;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/>
              <a:t>Оператор </a:t>
            </a:r>
            <a:r>
              <a:rPr lang="en-US" altLang="ru-RU"/>
              <a:t>delete</a:t>
            </a:r>
            <a:r>
              <a:rPr lang="ru-RU" altLang="ru-RU"/>
              <a:t> применяется только к результату оператора </a:t>
            </a:r>
            <a:r>
              <a:rPr lang="en-US" altLang="ru-RU"/>
              <a:t>new</a:t>
            </a:r>
            <a:r>
              <a:rPr lang="ru-RU" altLang="ru-RU"/>
              <a:t>.</a:t>
            </a:r>
          </a:p>
        </p:txBody>
      </p:sp>
      <p:sp>
        <p:nvSpPr>
          <p:cNvPr id="30724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5B1E3A2-8ED4-4308-8E39-36D8E9AD166B}" type="slidenum">
              <a:rPr lang="ru-RU" altLang="ru-RU">
                <a:solidFill>
                  <a:schemeClr val="bg1"/>
                </a:solidFill>
              </a:rPr>
              <a:pPr eaLnBrk="1" hangingPunct="1"/>
              <a:t>28</a:t>
            </a:fld>
            <a:endParaRPr lang="ru-RU" altLang="ru-RU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altLang="ru-RU"/>
          </a:p>
        </p:txBody>
      </p:sp>
      <p:sp>
        <p:nvSpPr>
          <p:cNvPr id="31747" name="Содержимое 2"/>
          <p:cNvSpPr>
            <a:spLocks noGrp="1"/>
          </p:cNvSpPr>
          <p:nvPr>
            <p:ph idx="1"/>
          </p:nvPr>
        </p:nvSpPr>
        <p:spPr>
          <a:xfrm>
            <a:off x="838200" y="2362200"/>
            <a:ext cx="7693025" cy="42354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ru-RU" altLang="ru-RU" sz="2400" u="sng"/>
              <a:t>Освобождение памяти</a:t>
            </a:r>
            <a:r>
              <a:rPr lang="ru-RU" altLang="ru-RU" sz="2400"/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 sz="2400"/>
              <a:t>Оператор </a:t>
            </a:r>
            <a:r>
              <a:rPr lang="en-US" altLang="ru-RU" sz="2400" b="1"/>
              <a:t>delete</a:t>
            </a:r>
            <a:r>
              <a:rPr lang="ru-RU" altLang="ru-RU" sz="2400"/>
              <a:t> освобождает память, выделенную с помощью оператора </a:t>
            </a:r>
            <a:r>
              <a:rPr lang="en-US" altLang="ru-RU" sz="2400"/>
              <a:t>new</a:t>
            </a:r>
            <a:r>
              <a:rPr lang="ru-RU" altLang="ru-RU" sz="2400"/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 b="1"/>
              <a:t>delete </a:t>
            </a:r>
            <a:r>
              <a:rPr lang="ru-RU" altLang="ru-RU" sz="2400" b="1"/>
              <a:t>указатель</a:t>
            </a:r>
            <a:r>
              <a:rPr lang="en-US" altLang="ru-RU" sz="2400"/>
              <a:t>;</a:t>
            </a:r>
            <a:endParaRPr lang="ru-RU" altLang="ru-RU" sz="2400"/>
          </a:p>
          <a:p>
            <a:pPr>
              <a:buFont typeface="Wingdings" panose="05000000000000000000" pitchFamily="2" charset="2"/>
              <a:buNone/>
            </a:pPr>
            <a:r>
              <a:rPr lang="ru-RU" altLang="ru-RU" sz="2400"/>
              <a:t>Например: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 b="1"/>
              <a:t>int *s;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 b="1"/>
              <a:t>s = new int;</a:t>
            </a:r>
            <a:endParaRPr lang="ru-RU" altLang="ru-RU" sz="2400" b="1"/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/>
              <a:t>//</a:t>
            </a:r>
            <a:r>
              <a:rPr lang="ru-RU" altLang="ru-RU" sz="2400"/>
              <a:t>работа с указателем </a:t>
            </a:r>
            <a:r>
              <a:rPr lang="en-US" altLang="ru-RU" sz="2400"/>
              <a:t>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 sz="2400" b="1"/>
              <a:t>delete s;</a:t>
            </a:r>
            <a:endParaRPr lang="ru-RU" altLang="ru-RU" sz="2400"/>
          </a:p>
        </p:txBody>
      </p:sp>
      <p:sp>
        <p:nvSpPr>
          <p:cNvPr id="3174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14BC8A5-D683-4700-A071-614CC17BD822}" type="slidenum">
              <a:rPr lang="ru-RU" altLang="ru-RU">
                <a:solidFill>
                  <a:schemeClr val="bg1"/>
                </a:solidFill>
              </a:rPr>
              <a:pPr eaLnBrk="1" hangingPunct="1"/>
              <a:t>29</a:t>
            </a:fld>
            <a:endParaRPr lang="ru-RU" altLang="ru-RU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Проблемы при работе с указателями</a:t>
            </a:r>
          </a:p>
        </p:txBody>
      </p:sp>
      <p:sp>
        <p:nvSpPr>
          <p:cNvPr id="32771" name="Содержимое 2"/>
          <p:cNvSpPr>
            <a:spLocks noGrp="1"/>
          </p:cNvSpPr>
          <p:nvPr>
            <p:ph idx="1"/>
          </p:nvPr>
        </p:nvSpPr>
        <p:spPr>
          <a:xfrm>
            <a:off x="838200" y="2362200"/>
            <a:ext cx="8054975" cy="4235450"/>
          </a:xfrm>
        </p:spPr>
        <p:txBody>
          <a:bodyPr/>
          <a:lstStyle/>
          <a:p>
            <a:pPr marL="514350" indent="-514350">
              <a:buFont typeface="Wingdings" panose="05000000000000000000" pitchFamily="2" charset="2"/>
              <a:buAutoNum type="arabicPeriod"/>
            </a:pPr>
            <a:r>
              <a:rPr lang="ru-RU" altLang="ru-RU" sz="2400" u="sng"/>
              <a:t>Неинициализированный указатель</a:t>
            </a:r>
            <a:r>
              <a:rPr lang="ru-RU" altLang="ru-RU" sz="2400"/>
              <a:t>.</a:t>
            </a:r>
          </a:p>
          <a:p>
            <a:pPr marL="514350" indent="-514350">
              <a:buFont typeface="Wingdings" panose="05000000000000000000" pitchFamily="2" charset="2"/>
              <a:buNone/>
            </a:pPr>
            <a:r>
              <a:rPr lang="en-US" altLang="ru-RU" sz="2400"/>
              <a:t>int main()</a:t>
            </a:r>
          </a:p>
          <a:p>
            <a:pPr marL="514350" indent="-514350">
              <a:buFont typeface="Wingdings" panose="05000000000000000000" pitchFamily="2" charset="2"/>
              <a:buNone/>
            </a:pPr>
            <a:r>
              <a:rPr lang="en-US" altLang="ru-RU" sz="2400"/>
              <a:t>{</a:t>
            </a:r>
          </a:p>
          <a:p>
            <a:pPr marL="514350" indent="-514350">
              <a:buFont typeface="Wingdings" panose="05000000000000000000" pitchFamily="2" charset="2"/>
              <a:buNone/>
            </a:pPr>
            <a:r>
              <a:rPr lang="en-US" altLang="ru-RU" sz="2400"/>
              <a:t>	int x, *p;</a:t>
            </a:r>
          </a:p>
          <a:p>
            <a:pPr marL="514350" indent="-514350">
              <a:buFont typeface="Wingdings" panose="05000000000000000000" pitchFamily="2" charset="2"/>
              <a:buNone/>
            </a:pPr>
            <a:r>
              <a:rPr lang="en-US" altLang="ru-RU" sz="2400"/>
              <a:t>	x=10;</a:t>
            </a:r>
          </a:p>
          <a:p>
            <a:pPr marL="514350" indent="-514350">
              <a:buFont typeface="Wingdings" panose="05000000000000000000" pitchFamily="2" charset="2"/>
              <a:buNone/>
            </a:pPr>
            <a:r>
              <a:rPr lang="en-US" altLang="ru-RU" sz="2400"/>
              <a:t>	*p=x;</a:t>
            </a:r>
          </a:p>
          <a:p>
            <a:pPr marL="514350" indent="-514350">
              <a:buFont typeface="Wingdings" panose="05000000000000000000" pitchFamily="2" charset="2"/>
              <a:buNone/>
            </a:pPr>
            <a:r>
              <a:rPr lang="en-US" altLang="ru-RU" sz="2400"/>
              <a:t>	return 0;</a:t>
            </a:r>
          </a:p>
          <a:p>
            <a:pPr marL="514350" indent="-514350">
              <a:buFont typeface="Wingdings" panose="05000000000000000000" pitchFamily="2" charset="2"/>
              <a:buNone/>
            </a:pPr>
            <a:r>
              <a:rPr lang="en-US" altLang="ru-RU" sz="2400"/>
              <a:t>}</a:t>
            </a:r>
          </a:p>
          <a:p>
            <a:pPr marL="514350" indent="-514350">
              <a:buFont typeface="Wingdings" panose="05000000000000000000" pitchFamily="2" charset="2"/>
              <a:buNone/>
            </a:pPr>
            <a:r>
              <a:rPr lang="ru-RU" altLang="ru-RU" sz="2400"/>
              <a:t>Число 10 записывается в неизвестную область памяти.</a:t>
            </a:r>
          </a:p>
        </p:txBody>
      </p:sp>
      <p:sp>
        <p:nvSpPr>
          <p:cNvPr id="32772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6BD3DF2-34F8-4735-8D56-CCA92E8F190E}" type="slidenum">
              <a:rPr lang="ru-RU" altLang="ru-RU">
                <a:solidFill>
                  <a:schemeClr val="bg1"/>
                </a:solidFill>
              </a:rPr>
              <a:pPr eaLnBrk="1" hangingPunct="1"/>
              <a:t>30</a:t>
            </a:fld>
            <a:endParaRPr lang="ru-RU" altLang="ru-RU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altLang="ru-RU"/>
          </a:p>
        </p:txBody>
      </p:sp>
      <p:sp>
        <p:nvSpPr>
          <p:cNvPr id="33795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ru-RU" altLang="ru-RU"/>
              <a:t>2. </a:t>
            </a:r>
            <a:r>
              <a:rPr lang="ru-RU" altLang="ru-RU" u="sng"/>
              <a:t>Неправильная работа с указателями</a:t>
            </a:r>
            <a:r>
              <a:rPr lang="ru-RU" altLang="ru-RU"/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/>
              <a:t>int x, *p;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/>
              <a:t>x = 10;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/>
              <a:t>p = x;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ru-RU"/>
              <a:t>printf (“%d”, *p);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/>
              <a:t>Неверное присваивание </a:t>
            </a:r>
            <a:r>
              <a:rPr lang="en-US" altLang="ru-RU"/>
              <a:t>p=x</a:t>
            </a:r>
            <a:r>
              <a:rPr lang="ru-RU" altLang="ru-RU"/>
              <a:t>, поэтому непредсказуемое значение на экране.</a:t>
            </a:r>
            <a:endParaRPr lang="en-US" altLang="ru-RU"/>
          </a:p>
        </p:txBody>
      </p:sp>
      <p:sp>
        <p:nvSpPr>
          <p:cNvPr id="33796" name="Номер слайда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C67FF51-78D5-4A8E-8AC4-8653688B2FB8}" type="slidenum">
              <a:rPr lang="ru-RU" altLang="ru-RU">
                <a:solidFill>
                  <a:schemeClr val="bg1"/>
                </a:solidFill>
              </a:rPr>
              <a:pPr eaLnBrk="1" hangingPunct="1"/>
              <a:t>31</a:t>
            </a:fld>
            <a:endParaRPr lang="ru-RU" altLang="ru-RU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F59C0F8-2684-4891-B5A6-BB1DB45458EE}" type="slidenum">
              <a:rPr lang="ru-RU" altLang="ru-RU">
                <a:solidFill>
                  <a:schemeClr val="bg1"/>
                </a:solidFill>
              </a:rPr>
              <a:pPr eaLnBrk="1" hangingPunct="1"/>
              <a:t>32</a:t>
            </a:fld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34819" name="Номер слайда 5"/>
          <p:cNvSpPr txBox="1">
            <a:spLocks noGrp="1"/>
          </p:cNvSpPr>
          <p:nvPr/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DDC2F19-543A-4C86-8AF5-D94D948A14C9}" type="slidenum">
              <a:rPr lang="ru-RU" altLang="ru-RU" sz="2600" b="1">
                <a:solidFill>
                  <a:schemeClr val="bg1"/>
                </a:solidFill>
              </a:rPr>
              <a:pPr eaLnBrk="1" hangingPunct="1"/>
              <a:t>32</a:t>
            </a:fld>
            <a:endParaRPr lang="ru-RU" altLang="ru-RU" sz="2600" b="1">
              <a:solidFill>
                <a:schemeClr val="bg1"/>
              </a:solidFill>
            </a:endParaRPr>
          </a:p>
        </p:txBody>
      </p:sp>
      <p:sp>
        <p:nvSpPr>
          <p:cNvPr id="3482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Итоги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8197850" cy="4379913"/>
          </a:xfrm>
        </p:spPr>
        <p:txBody>
          <a:bodyPr/>
          <a:lstStyle/>
          <a:p>
            <a:pPr marL="533400" indent="-533400" algn="just" eaLnBrk="1" hangingPunct="1">
              <a:buFont typeface="Wingdings" panose="05000000000000000000" pitchFamily="2" charset="2"/>
              <a:buNone/>
            </a:pPr>
            <a:r>
              <a:rPr lang="ru-RU" altLang="ru-RU"/>
              <a:t>Мы вспомнили основы языка С/С++.</a:t>
            </a:r>
          </a:p>
          <a:p>
            <a:pPr marL="533400" indent="-533400" algn="just" eaLnBrk="1" hangingPunct="1">
              <a:buFont typeface="Wingdings" panose="05000000000000000000" pitchFamily="2" charset="2"/>
              <a:buNone/>
            </a:pPr>
            <a:r>
              <a:rPr lang="ru-RU" altLang="ru-RU"/>
              <a:t>Рассмотрели понятие указателя, операторы работы с указателями, принципы интерпретации выражений, содержащих указатели.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Капсулы">
  <a:themeElements>
    <a:clrScheme name="Капсулы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Капсулы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Капсулы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Капсулы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Капсулы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апсулы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Капсулы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апсулы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апсулы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апсулы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9005</TotalTime>
  <Words>1410</Words>
  <Application>Microsoft Office PowerPoint</Application>
  <PresentationFormat>Экран (4:3)</PresentationFormat>
  <Paragraphs>240</Paragraphs>
  <Slides>32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6" baseType="lpstr">
      <vt:lpstr>Arial</vt:lpstr>
      <vt:lpstr>Times New Roman</vt:lpstr>
      <vt:lpstr>Wingdings</vt:lpstr>
      <vt:lpstr>Капсулы</vt:lpstr>
      <vt:lpstr>Лекция 6. C++. Указатели. Работа с указателями.</vt:lpstr>
      <vt:lpstr>План.</vt:lpstr>
      <vt:lpstr>Виды переменных</vt:lpstr>
      <vt:lpstr>Презентация PowerPoint</vt:lpstr>
      <vt:lpstr>Указатели</vt:lpstr>
      <vt:lpstr>Объявление указателей</vt:lpstr>
      <vt:lpstr>Пример</vt:lpstr>
      <vt:lpstr>Операторы для работы с указателями</vt:lpstr>
      <vt:lpstr>Презентация PowerPoint</vt:lpstr>
      <vt:lpstr>Пример.</vt:lpstr>
      <vt:lpstr>Выражения, содержащие указатели</vt:lpstr>
      <vt:lpstr>Присваивание указателей</vt:lpstr>
      <vt:lpstr>Адресная арифметика</vt:lpstr>
      <vt:lpstr>Презентация PowerPoint</vt:lpstr>
      <vt:lpstr>Правила адресной арифметики.</vt:lpstr>
      <vt:lpstr>Сравнение указателей</vt:lpstr>
      <vt:lpstr>Пример. Функции для работы со структурой типа стек.</vt:lpstr>
      <vt:lpstr>Презентация PowerPoint</vt:lpstr>
      <vt:lpstr>Презентация PowerPoint</vt:lpstr>
      <vt:lpstr>Презентация PowerPoint</vt:lpstr>
      <vt:lpstr>Косвенная адресация</vt:lpstr>
      <vt:lpstr>Презентация PowerPoint</vt:lpstr>
      <vt:lpstr>Объявление переменной</vt:lpstr>
      <vt:lpstr>Извлечение значения в косвенной адресации</vt:lpstr>
      <vt:lpstr>Пример</vt:lpstr>
      <vt:lpstr>Инициализация указателей</vt:lpstr>
      <vt:lpstr>Динамическое распределение памяти</vt:lpstr>
      <vt:lpstr>Динамическое распределение памяти</vt:lpstr>
      <vt:lpstr>Презентация PowerPoint</vt:lpstr>
      <vt:lpstr>Проблемы при работе с указателями</vt:lpstr>
      <vt:lpstr>Презентация PowerPoint</vt:lpstr>
      <vt:lpstr>Итоги</vt:lpstr>
    </vt:vector>
  </TitlesOfParts>
  <Company>some 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2. АРХИТЕКТУРА МИКРОПРОЦЕССОРА</dc:title>
  <dc:creator>some user</dc:creator>
  <cp:lastModifiedBy>Комаров Алексей</cp:lastModifiedBy>
  <cp:revision>738</cp:revision>
  <dcterms:created xsi:type="dcterms:W3CDTF">2009-03-15T13:38:24Z</dcterms:created>
  <dcterms:modified xsi:type="dcterms:W3CDTF">2022-10-24T02:02:15Z</dcterms:modified>
</cp:coreProperties>
</file>